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01752"/>
            <a:ext cx="73152" cy="758952"/>
          </a:xfrm>
          <a:prstGeom prst="rect">
            <a:avLst/>
          </a:prstGeom>
          <a:solidFill>
            <a:srgbClr val="08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83464"/>
            <a:ext cx="106984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E78"/>
                </a:solidFill>
                <a:latin typeface="Aptos"/>
              </a:rPr>
              <a:t>FINSIGHT AI  /  DATABASE DESIGN  /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"/>
            <a:ext cx="1097280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7313C"/>
                </a:solidFill>
                <a:latin typeface="Aptos Display"/>
              </a:rPr>
              <a:t>Four database domains, one traceable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737D"/>
                </a:solidFill>
                <a:latin typeface="Aptos"/>
              </a:rPr>
              <a:t>Source financial facts feed investigations; AI and human-review data stay linked to the case.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37D"/>
                </a:solidFill>
                <a:latin typeface="Aptos"/>
              </a:rPr>
              <a:t>01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63240" y="2286000"/>
            <a:ext cx="640080" cy="0"/>
          </a:xfrm>
          <a:prstGeom prst="line">
            <a:avLst/>
          </a:prstGeom>
          <a:ln w="17780">
            <a:solidFill>
              <a:srgbClr val="3767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035808" y="2029968"/>
            <a:ext cx="713232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767A6"/>
                </a:solidFill>
                <a:latin typeface="Aptos"/>
              </a:rPr>
              <a:t>user / role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138160" y="2286000"/>
            <a:ext cx="685800" cy="0"/>
          </a:xfrm>
          <a:prstGeom prst="line">
            <a:avLst/>
          </a:prstGeom>
          <a:ln w="17780">
            <a:solidFill>
              <a:srgbClr val="C474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138160" y="2029968"/>
            <a:ext cx="6858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47425"/>
                </a:solidFill>
                <a:latin typeface="Aptos"/>
              </a:rPr>
              <a:t>settlement FK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138160" y="4709160"/>
            <a:ext cx="685800" cy="0"/>
          </a:xfrm>
          <a:prstGeom prst="line">
            <a:avLst/>
          </a:prstGeom>
          <a:ln w="17780">
            <a:solidFill>
              <a:srgbClr val="BC59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47304" y="4453128"/>
            <a:ext cx="676656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BC594D"/>
                </a:solidFill>
                <a:latin typeface="Aptos"/>
              </a:rPr>
              <a:t>case / run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417320"/>
            <a:ext cx="2560320" cy="192024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C7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417320"/>
            <a:ext cx="73152" cy="1920240"/>
          </a:xfrm>
          <a:prstGeom prst="rect">
            <a:avLst/>
          </a:prstGeom>
          <a:solidFill>
            <a:srgbClr val="37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1490472"/>
            <a:ext cx="2286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313C"/>
                </a:solidFill>
                <a:latin typeface="Aptos"/>
              </a:rPr>
              <a:t>AUTHENTICATION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1847088"/>
            <a:ext cx="2286000" cy="12252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737D"/>
                </a:solidFill>
                <a:latin typeface="Aptos"/>
              </a:rPr>
              <a:t>users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737D"/>
                </a:solidFill>
                <a:latin typeface="Aptos"/>
              </a:rPr>
              <a:t>roles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737D"/>
                </a:solidFill>
                <a:latin typeface="Aptos"/>
              </a:rPr>
              <a:t>user_role_mappings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737D"/>
                </a:solidFill>
                <a:latin typeface="Aptos"/>
              </a:rPr>
              <a:t>permissions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3081528"/>
            <a:ext cx="2286000" cy="17373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767A6"/>
                </a:solidFill>
                <a:latin typeface="Aptos"/>
              </a:rPr>
              <a:t>Identity and assigned roles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03320" y="1417320"/>
            <a:ext cx="4434840" cy="3520440"/>
          </a:xfrm>
          <a:prstGeom prst="roundRect">
            <a:avLst>
              <a:gd name="adj" fmla="val 8000"/>
            </a:avLst>
          </a:prstGeom>
          <a:solidFill>
            <a:srgbClr val="FFF3DF"/>
          </a:solidFill>
          <a:ln w="12700">
            <a:solidFill>
              <a:srgbClr val="C7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03320" y="1417320"/>
            <a:ext cx="73152" cy="3520440"/>
          </a:xfrm>
          <a:prstGeom prst="rect">
            <a:avLst/>
          </a:prstGeom>
          <a:solidFill>
            <a:srgbClr val="C47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77056" y="1490472"/>
            <a:ext cx="41605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313C"/>
                </a:solidFill>
                <a:latin typeface="Aptos"/>
              </a:rPr>
              <a:t>FINANCIAL SOURCE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77056" y="1847088"/>
            <a:ext cx="4160520" cy="2825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737D"/>
                </a:solidFill>
                <a:latin typeface="Aptos"/>
              </a:rPr>
              <a:t>customers -&gt; accounts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737D"/>
                </a:solidFill>
                <a:latin typeface="Aptos"/>
              </a:rPr>
              <a:t>accounts -&gt; portfolios -&gt; holdings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737D"/>
                </a:solidFill>
                <a:latin typeface="Aptos"/>
              </a:rPr>
              <a:t>securities -&gt; orders / holdings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737D"/>
                </a:solidFill>
                <a:latin typeface="Aptos"/>
              </a:rPr>
              <a:t>orders -&gt; executions + transactions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737D"/>
                </a:solidFill>
                <a:latin typeface="Aptos"/>
              </a:rPr>
              <a:t>execution_transactions (allocation bridge)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737D"/>
                </a:solidFill>
                <a:latin typeface="Aptos"/>
              </a:rPr>
              <a:t>transactions -&gt; settlements -&gt; cash_movements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77056" y="4681728"/>
            <a:ext cx="4160520" cy="17373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47425"/>
                </a:solidFill>
                <a:latin typeface="Aptos"/>
              </a:rPr>
              <a:t>System-of-record financial facts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23960" y="1417320"/>
            <a:ext cx="2834640" cy="1920240"/>
          </a:xfrm>
          <a:prstGeom prst="roundRect">
            <a:avLst>
              <a:gd name="adj" fmla="val 8000"/>
            </a:avLst>
          </a:prstGeom>
          <a:solidFill>
            <a:srgbClr val="FAECE9"/>
          </a:solidFill>
          <a:ln w="12700">
            <a:solidFill>
              <a:srgbClr val="C7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23960" y="1417320"/>
            <a:ext cx="73152" cy="1920240"/>
          </a:xfrm>
          <a:prstGeom prst="rect">
            <a:avLst/>
          </a:prstGeom>
          <a:solidFill>
            <a:srgbClr val="BC5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97696" y="1490472"/>
            <a:ext cx="25603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313C"/>
                </a:solidFill>
                <a:latin typeface="Aptos"/>
              </a:rPr>
              <a:t>INVESTIGATION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1847088"/>
            <a:ext cx="2560320" cy="12252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737D"/>
                </a:solidFill>
                <a:latin typeface="Aptos"/>
              </a:rPr>
              <a:t>cases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737D"/>
                </a:solidFill>
                <a:latin typeface="Aptos"/>
              </a:rPr>
              <a:t>findings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737D"/>
                </a:solidFill>
                <a:latin typeface="Aptos"/>
              </a:rPr>
              <a:t>evidence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737D"/>
                </a:solidFill>
                <a:latin typeface="Aptos"/>
              </a:rPr>
              <a:t>approval_events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3081528"/>
            <a:ext cx="2560320" cy="17373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BC594D"/>
                </a:solidFill>
                <a:latin typeface="Aptos"/>
              </a:rPr>
              <a:t>Discrepancy and review lifecycle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23960" y="3657600"/>
            <a:ext cx="2834640" cy="1920240"/>
          </a:xfrm>
          <a:prstGeom prst="roundRect">
            <a:avLst>
              <a:gd name="adj" fmla="val 8000"/>
            </a:avLst>
          </a:prstGeom>
          <a:solidFill>
            <a:srgbClr val="F0ECF8"/>
          </a:solidFill>
          <a:ln w="12700">
            <a:solidFill>
              <a:srgbClr val="C7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23960" y="3657600"/>
            <a:ext cx="73152" cy="1920240"/>
          </a:xfrm>
          <a:prstGeom prst="rect">
            <a:avLst/>
          </a:prstGeom>
          <a:solidFill>
            <a:srgbClr val="715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97696" y="3730752"/>
            <a:ext cx="25603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313C"/>
                </a:solidFill>
                <a:latin typeface="Aptos"/>
              </a:rPr>
              <a:t>AI GOVERNANCE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97696" y="4087368"/>
            <a:ext cx="2560320" cy="12252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737D"/>
                </a:solidFill>
                <a:latin typeface="Aptos"/>
              </a:rPr>
              <a:t>policy_documents -&gt; policy_chunks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737D"/>
                </a:solidFill>
                <a:latin typeface="Aptos"/>
              </a:rPr>
              <a:t>explanation_runs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7696" y="5321807"/>
            <a:ext cx="2560320" cy="17373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7156A5"/>
                </a:solidFill>
                <a:latin typeface="Aptos"/>
              </a:rPr>
              <a:t>Grounding and provenance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5943600"/>
            <a:ext cx="109728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313C"/>
                </a:solidFill>
                <a:latin typeface="Aptos"/>
              </a:rPr>
              <a:t>22 live tables across authentication, financial, investigation, and ai schemas.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01752"/>
            <a:ext cx="73152" cy="758952"/>
          </a:xfrm>
          <a:prstGeom prst="rect">
            <a:avLst/>
          </a:prstGeom>
          <a:solidFill>
            <a:srgbClr val="08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83464"/>
            <a:ext cx="106984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E78"/>
                </a:solidFill>
                <a:latin typeface="Aptos"/>
              </a:rPr>
              <a:t>FINSIGHT AI  /  DATABASE DESIGN  /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"/>
            <a:ext cx="1097280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7313C"/>
                </a:solidFill>
                <a:latin typeface="Aptos Display"/>
              </a:rPr>
              <a:t>Financial records follow the transaction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737D"/>
                </a:solidFill>
                <a:latin typeface="Aptos"/>
              </a:rPr>
              <a:t>The reconciliation compares a settlement amount with the completed cash movements linked to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37D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874519"/>
            <a:ext cx="1682496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874519"/>
            <a:ext cx="73152" cy="1078992"/>
          </a:xfrm>
          <a:prstGeom prst="rect">
            <a:avLst/>
          </a:prstGeom>
          <a:solidFill>
            <a:srgbClr val="C47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947672"/>
            <a:ext cx="1408176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313C"/>
                </a:solidFill>
                <a:latin typeface="Aptos"/>
              </a:rPr>
              <a:t>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2304287"/>
            <a:ext cx="1408176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E737D"/>
                </a:solidFill>
                <a:latin typeface="Aptos"/>
              </a:rPr>
              <a:t>customer_id PK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1874519"/>
            <a:ext cx="1682496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31720" y="1874519"/>
            <a:ext cx="73152" cy="1078992"/>
          </a:xfrm>
          <a:prstGeom prst="rect">
            <a:avLst/>
          </a:prstGeom>
          <a:solidFill>
            <a:srgbClr val="C47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05456" y="1947672"/>
            <a:ext cx="1408176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313C"/>
                </a:solidFill>
                <a:latin typeface="Aptos"/>
              </a:rPr>
              <a:t>ACCOUNTS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5456" y="2304287"/>
            <a:ext cx="1408176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E737D"/>
                </a:solidFill>
                <a:latin typeface="Aptos"/>
              </a:rPr>
              <a:t>account_id PK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E737D"/>
                </a:solidFill>
                <a:latin typeface="Aptos"/>
              </a:rPr>
              <a:t>customer_id FK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9392" y="1874519"/>
            <a:ext cx="1682496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9392" y="1874519"/>
            <a:ext cx="73152" cy="1078992"/>
          </a:xfrm>
          <a:prstGeom prst="rect">
            <a:avLst/>
          </a:prstGeom>
          <a:solidFill>
            <a:srgbClr val="C47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1947672"/>
            <a:ext cx="1408176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313C"/>
                </a:solidFill>
                <a:latin typeface="Aptos"/>
              </a:rPr>
              <a:t>ORDERS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2304287"/>
            <a:ext cx="1408176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E737D"/>
                </a:solidFill>
                <a:latin typeface="Aptos"/>
              </a:rPr>
              <a:t>order_id PK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E737D"/>
                </a:solidFill>
                <a:latin typeface="Aptos"/>
              </a:rPr>
              <a:t>account_id / security_id FK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7064" y="1874519"/>
            <a:ext cx="1682496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7064" y="1874519"/>
            <a:ext cx="73152" cy="1078992"/>
          </a:xfrm>
          <a:prstGeom prst="rect">
            <a:avLst/>
          </a:prstGeom>
          <a:solidFill>
            <a:srgbClr val="C47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947672"/>
            <a:ext cx="1408176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313C"/>
                </a:solidFill>
                <a:latin typeface="Aptos"/>
              </a:rPr>
              <a:t>TRANSACTIONS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304287"/>
            <a:ext cx="1408176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E737D"/>
                </a:solidFill>
                <a:latin typeface="Aptos"/>
              </a:rPr>
              <a:t>transaction_id PK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E737D"/>
                </a:solidFill>
                <a:latin typeface="Aptos"/>
              </a:rPr>
              <a:t>order_id FK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74736" y="1874519"/>
            <a:ext cx="1682496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74736" y="1874519"/>
            <a:ext cx="73152" cy="1078992"/>
          </a:xfrm>
          <a:prstGeom prst="rect">
            <a:avLst/>
          </a:prstGeom>
          <a:solidFill>
            <a:srgbClr val="C47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1" y="1947672"/>
            <a:ext cx="1408176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313C"/>
                </a:solidFill>
                <a:latin typeface="Aptos"/>
              </a:rPr>
              <a:t>SETTLEMENTS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1" y="2304287"/>
            <a:ext cx="1408176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E737D"/>
                </a:solidFill>
                <a:latin typeface="Aptos"/>
              </a:rPr>
              <a:t>settlement_id PK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E737D"/>
                </a:solidFill>
                <a:latin typeface="Aptos"/>
              </a:rPr>
              <a:t>transaction_id FK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22408" y="1874519"/>
            <a:ext cx="1682496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122408" y="1874519"/>
            <a:ext cx="73152" cy="1078992"/>
          </a:xfrm>
          <a:prstGeom prst="rect">
            <a:avLst/>
          </a:prstGeom>
          <a:solidFill>
            <a:srgbClr val="C47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96144" y="1947672"/>
            <a:ext cx="1408176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313C"/>
                </a:solidFill>
                <a:latin typeface="Aptos"/>
              </a:rPr>
              <a:t>CASH MOVEMENTS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96144" y="2304287"/>
            <a:ext cx="1408176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E737D"/>
                </a:solidFill>
                <a:latin typeface="Aptos"/>
              </a:rPr>
              <a:t>cash_movement_id PK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E737D"/>
                </a:solidFill>
                <a:latin typeface="Aptos"/>
              </a:rPr>
              <a:t>settlement_id / account_id FK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084832" y="2404872"/>
            <a:ext cx="210312" cy="0"/>
          </a:xfrm>
          <a:prstGeom prst="line">
            <a:avLst/>
          </a:prstGeom>
          <a:ln w="19050">
            <a:solidFill>
              <a:srgbClr val="C474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ight Arrow 31"/>
          <p:cNvSpPr/>
          <p:nvPr/>
        </p:nvSpPr>
        <p:spPr>
          <a:xfrm>
            <a:off x="2157984" y="2340863"/>
            <a:ext cx="182880" cy="128016"/>
          </a:xfrm>
          <a:prstGeom prst="rightArrow">
            <a:avLst/>
          </a:prstGeom>
          <a:solidFill>
            <a:srgbClr val="C47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4032503" y="2404872"/>
            <a:ext cx="210313" cy="0"/>
          </a:xfrm>
          <a:prstGeom prst="line">
            <a:avLst/>
          </a:prstGeom>
          <a:ln w="19050">
            <a:solidFill>
              <a:srgbClr val="C474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ight Arrow 33"/>
          <p:cNvSpPr/>
          <p:nvPr/>
        </p:nvSpPr>
        <p:spPr>
          <a:xfrm>
            <a:off x="4105655" y="2340863"/>
            <a:ext cx="182880" cy="128016"/>
          </a:xfrm>
          <a:prstGeom prst="rightArrow">
            <a:avLst/>
          </a:prstGeom>
          <a:solidFill>
            <a:srgbClr val="C47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5980175" y="2404872"/>
            <a:ext cx="210313" cy="0"/>
          </a:xfrm>
          <a:prstGeom prst="line">
            <a:avLst/>
          </a:prstGeom>
          <a:ln w="19050">
            <a:solidFill>
              <a:srgbClr val="C474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ight Arrow 35"/>
          <p:cNvSpPr/>
          <p:nvPr/>
        </p:nvSpPr>
        <p:spPr>
          <a:xfrm>
            <a:off x="6053327" y="2340863"/>
            <a:ext cx="182880" cy="128016"/>
          </a:xfrm>
          <a:prstGeom prst="rightArrow">
            <a:avLst/>
          </a:prstGeom>
          <a:solidFill>
            <a:srgbClr val="C47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7927848" y="2404872"/>
            <a:ext cx="210312" cy="0"/>
          </a:xfrm>
          <a:prstGeom prst="line">
            <a:avLst/>
          </a:prstGeom>
          <a:ln w="19050">
            <a:solidFill>
              <a:srgbClr val="C474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ight Arrow 37"/>
          <p:cNvSpPr/>
          <p:nvPr/>
        </p:nvSpPr>
        <p:spPr>
          <a:xfrm>
            <a:off x="8001000" y="2340863"/>
            <a:ext cx="182880" cy="128016"/>
          </a:xfrm>
          <a:prstGeom prst="rightArrow">
            <a:avLst/>
          </a:prstGeom>
          <a:solidFill>
            <a:srgbClr val="C47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9875519" y="2404872"/>
            <a:ext cx="210313" cy="0"/>
          </a:xfrm>
          <a:prstGeom prst="line">
            <a:avLst/>
          </a:prstGeom>
          <a:ln w="19050">
            <a:solidFill>
              <a:srgbClr val="C474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ight Arrow 39"/>
          <p:cNvSpPr/>
          <p:nvPr/>
        </p:nvSpPr>
        <p:spPr>
          <a:xfrm>
            <a:off x="9948672" y="2340863"/>
            <a:ext cx="182880" cy="128016"/>
          </a:xfrm>
          <a:prstGeom prst="rightArrow">
            <a:avLst/>
          </a:prstGeom>
          <a:solidFill>
            <a:srgbClr val="C47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" y="352044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C7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3520440"/>
            <a:ext cx="73152" cy="1051560"/>
          </a:xfrm>
          <a:prstGeom prst="rect">
            <a:avLst/>
          </a:prstGeom>
          <a:solidFill>
            <a:srgbClr val="37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3593592"/>
            <a:ext cx="169163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313C"/>
                </a:solidFill>
                <a:latin typeface="Aptos"/>
              </a:rPr>
              <a:t>PORTFOLIOS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" y="3950208"/>
            <a:ext cx="1691639" cy="5943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E737D"/>
                </a:solidFill>
                <a:latin typeface="Aptos"/>
              </a:rPr>
              <a:t>account_id FK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E737D"/>
                </a:solidFill>
                <a:latin typeface="Aptos"/>
              </a:rPr>
              <a:t>portfolio_id PK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0" y="352044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C7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43200" y="3520440"/>
            <a:ext cx="73152" cy="1051560"/>
          </a:xfrm>
          <a:prstGeom prst="rect">
            <a:avLst/>
          </a:prstGeom>
          <a:solidFill>
            <a:srgbClr val="37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16936" y="3593592"/>
            <a:ext cx="169163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313C"/>
                </a:solidFill>
                <a:latin typeface="Aptos"/>
              </a:rPr>
              <a:t>HOLDINGS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16936" y="3950208"/>
            <a:ext cx="1691639" cy="5943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E737D"/>
                </a:solidFill>
                <a:latin typeface="Aptos"/>
              </a:rPr>
              <a:t>portfolio_id FK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E737D"/>
                </a:solidFill>
                <a:latin typeface="Aptos"/>
              </a:rPr>
              <a:t>security_id FK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983480" y="352044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C7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83480" y="3520440"/>
            <a:ext cx="73152" cy="1051560"/>
          </a:xfrm>
          <a:prstGeom prst="rect">
            <a:avLst/>
          </a:prstGeom>
          <a:solidFill>
            <a:srgbClr val="37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57216" y="3593592"/>
            <a:ext cx="169163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313C"/>
                </a:solidFill>
                <a:latin typeface="Aptos"/>
              </a:rPr>
              <a:t>SECURITIES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57216" y="3950208"/>
            <a:ext cx="1691639" cy="5943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E737D"/>
                </a:solidFill>
                <a:latin typeface="Aptos"/>
              </a:rPr>
              <a:t>security_id PK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E737D"/>
                </a:solidFill>
                <a:latin typeface="Aptos"/>
              </a:rPr>
              <a:t>used by orders / holdings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23760" y="352044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E4F4EF"/>
          </a:solidFill>
          <a:ln w="12700">
            <a:solidFill>
              <a:srgbClr val="C7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223760" y="3520440"/>
            <a:ext cx="73152" cy="1051560"/>
          </a:xfrm>
          <a:prstGeom prst="rect">
            <a:avLst/>
          </a:prstGeom>
          <a:solidFill>
            <a:srgbClr val="08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97496" y="3593592"/>
            <a:ext cx="169163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313C"/>
                </a:solidFill>
                <a:latin typeface="Aptos"/>
              </a:rPr>
              <a:t>EXECUTIONS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97496" y="3950208"/>
            <a:ext cx="1691639" cy="5943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E737D"/>
                </a:solidFill>
                <a:latin typeface="Aptos"/>
              </a:rPr>
              <a:t>execution_id PK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E737D"/>
                </a:solidFill>
                <a:latin typeface="Aptos"/>
              </a:rPr>
              <a:t>order_id FK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464040" y="3520440"/>
            <a:ext cx="1965960" cy="1051560"/>
          </a:xfrm>
          <a:prstGeom prst="roundRect">
            <a:avLst>
              <a:gd name="adj" fmla="val 8000"/>
            </a:avLst>
          </a:prstGeom>
          <a:solidFill>
            <a:srgbClr val="F0ECF8"/>
          </a:solidFill>
          <a:ln w="12700">
            <a:solidFill>
              <a:srgbClr val="C7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464040" y="3520440"/>
            <a:ext cx="73152" cy="1051560"/>
          </a:xfrm>
          <a:prstGeom prst="rect">
            <a:avLst/>
          </a:prstGeom>
          <a:solidFill>
            <a:srgbClr val="715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37776" y="3593592"/>
            <a:ext cx="169163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7313C"/>
                </a:solidFill>
                <a:latin typeface="Aptos"/>
              </a:rPr>
              <a:t>EXECUTION_TRANSACTIONS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37776" y="3950208"/>
            <a:ext cx="1691639" cy="5943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E737D"/>
                </a:solidFill>
                <a:latin typeface="Aptos"/>
              </a:rPr>
              <a:t>composite PK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E737D"/>
                </a:solidFill>
                <a:latin typeface="Aptos"/>
              </a:rPr>
              <a:t>allocation bridge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86000" y="4681728"/>
            <a:ext cx="265176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767A6"/>
                </a:solidFill>
                <a:latin typeface="Aptos"/>
              </a:rPr>
              <a:t>account_id links portfolio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63440" y="4681728"/>
            <a:ext cx="246888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767A6"/>
                </a:solidFill>
                <a:latin typeface="Aptos"/>
              </a:rPr>
              <a:t>security_id links holdings / orders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38160" y="4681728"/>
            <a:ext cx="274320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7156A5"/>
                </a:solidFill>
                <a:latin typeface="Aptos"/>
              </a:rPr>
              <a:t>execution + transaction allocation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2920" y="5257800"/>
            <a:ext cx="11201400" cy="658368"/>
          </a:xfrm>
          <a:prstGeom prst="roundRect">
            <a:avLst/>
          </a:prstGeom>
          <a:solidFill>
            <a:srgbClr val="183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3232" y="533095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RECONCILIATION: settlements.expected_cash_amount  vs.  signed sum of completed cash_movements  -&gt;  MATCH / MISMATCH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" y="6080760"/>
            <a:ext cx="1097280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37D"/>
                </a:solidFill>
                <a:latin typeface="Aptos"/>
              </a:rPr>
              <a:t>Relationships shown with arrows are declared foreign keys; execution_transactions has a composite key over execution_id + transaction_id.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01752"/>
            <a:ext cx="73152" cy="758952"/>
          </a:xfrm>
          <a:prstGeom prst="rect">
            <a:avLst/>
          </a:prstGeom>
          <a:solidFill>
            <a:srgbClr val="08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83464"/>
            <a:ext cx="106984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E78"/>
                </a:solidFill>
                <a:latin typeface="Aptos"/>
              </a:rPr>
              <a:t>FINSIGHT AI  /  DATABASE DESIGN  / 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"/>
            <a:ext cx="1097280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7313C"/>
                </a:solidFill>
                <a:latin typeface="Aptos Display"/>
              </a:rPr>
              <a:t>Investigation and AI data are anchored to the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737D"/>
                </a:solidFill>
                <a:latin typeface="Aptos"/>
              </a:rPr>
              <a:t>Each explanation and approval can be traced to its source records, retrieved policy, actor, and outcome.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28816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37D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2423160" cy="1051560"/>
          </a:xfrm>
          <a:prstGeom prst="roundRect">
            <a:avLst>
              <a:gd name="adj" fmla="val 8000"/>
            </a:avLst>
          </a:prstGeom>
          <a:solidFill>
            <a:srgbClr val="FFF3DF"/>
          </a:solidFill>
          <a:ln w="12700">
            <a:solidFill>
              <a:srgbClr val="C7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73152" cy="1051560"/>
          </a:xfrm>
          <a:prstGeom prst="rect">
            <a:avLst/>
          </a:prstGeom>
          <a:solidFill>
            <a:srgbClr val="C47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581912"/>
            <a:ext cx="21488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313C"/>
                </a:solidFill>
                <a:latin typeface="Aptos"/>
              </a:rPr>
              <a:t>FINANCIAL SETTLEMENT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938528"/>
            <a:ext cx="2148840" cy="5943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37D"/>
                </a:solidFill>
                <a:latin typeface="Aptos"/>
              </a:rPr>
              <a:t>settlement_id PK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37D"/>
                </a:solidFill>
                <a:latin typeface="Aptos"/>
              </a:rPr>
              <a:t>expected / settled cash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331720"/>
            <a:ext cx="2423160" cy="1280160"/>
          </a:xfrm>
          <a:prstGeom prst="roundRect">
            <a:avLst>
              <a:gd name="adj" fmla="val 8000"/>
            </a:avLst>
          </a:prstGeom>
          <a:solidFill>
            <a:srgbClr val="FAECE9"/>
          </a:solidFill>
          <a:ln w="12700">
            <a:solidFill>
              <a:srgbClr val="C7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2331720"/>
            <a:ext cx="73152" cy="1280160"/>
          </a:xfrm>
          <a:prstGeom prst="rect">
            <a:avLst/>
          </a:prstGeom>
          <a:solidFill>
            <a:srgbClr val="BC5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2404872"/>
            <a:ext cx="21488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7313C"/>
                </a:solidFill>
                <a:latin typeface="Aptos"/>
              </a:rPr>
              <a:t>INVESTIGATION CASE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1296" y="2761487"/>
            <a:ext cx="2148840" cy="8229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37D"/>
                </a:solidFill>
                <a:latin typeface="Aptos"/>
              </a:rPr>
              <a:t>investigation_id PK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37D"/>
                </a:solidFill>
                <a:latin typeface="Aptos"/>
              </a:rPr>
              <a:t>settlement_id FK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37D"/>
                </a:solidFill>
                <a:latin typeface="Aptos"/>
              </a:rPr>
              <a:t>status / discrepancy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657600"/>
            <a:ext cx="24231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657600"/>
            <a:ext cx="73152" cy="1051560"/>
          </a:xfrm>
          <a:prstGeom prst="rect">
            <a:avLst/>
          </a:prstGeom>
          <a:solidFill>
            <a:srgbClr val="BC5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3730752"/>
            <a:ext cx="21488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313C"/>
                </a:solidFill>
                <a:latin typeface="Aptos"/>
              </a:rPr>
              <a:t>FINDINGS +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4087368"/>
            <a:ext cx="2148840" cy="5943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37D"/>
                </a:solidFill>
                <a:latin typeface="Aptos"/>
              </a:rPr>
              <a:t>cause / severity / action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37D"/>
                </a:solidFill>
                <a:latin typeface="Aptos"/>
              </a:rPr>
              <a:t>source + evidence text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1508760"/>
            <a:ext cx="2423160" cy="1143000"/>
          </a:xfrm>
          <a:prstGeom prst="roundRect">
            <a:avLst>
              <a:gd name="adj" fmla="val 8000"/>
            </a:avLst>
          </a:prstGeom>
          <a:solidFill>
            <a:srgbClr val="F0ECF8"/>
          </a:solidFill>
          <a:ln w="12700">
            <a:solidFill>
              <a:srgbClr val="C7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46520" y="1508760"/>
            <a:ext cx="73152" cy="1143000"/>
          </a:xfrm>
          <a:prstGeom prst="rect">
            <a:avLst/>
          </a:prstGeom>
          <a:solidFill>
            <a:srgbClr val="715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0256" y="1581912"/>
            <a:ext cx="21488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313C"/>
                </a:solidFill>
                <a:latin typeface="Aptos"/>
              </a:rPr>
              <a:t>AI EXPLANATION 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0256" y="1938528"/>
            <a:ext cx="21488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37D"/>
                </a:solidFill>
                <a:latin typeface="Aptos"/>
              </a:rPr>
              <a:t>run_id PK; provider / model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37D"/>
                </a:solidFill>
                <a:latin typeface="Aptos"/>
              </a:rPr>
              <a:t>input snapshot / hash / output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1508760"/>
            <a:ext cx="2423160" cy="1143000"/>
          </a:xfrm>
          <a:prstGeom prst="roundRect">
            <a:avLst>
              <a:gd name="adj" fmla="val 8000"/>
            </a:avLst>
          </a:prstGeom>
          <a:solidFill>
            <a:srgbClr val="E4F4EF"/>
          </a:solidFill>
          <a:ln w="12700">
            <a:solidFill>
              <a:srgbClr val="C7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0" y="1508760"/>
            <a:ext cx="73152" cy="1143000"/>
          </a:xfrm>
          <a:prstGeom prst="rect">
            <a:avLst/>
          </a:prstGeom>
          <a:solidFill>
            <a:srgbClr val="08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09176" y="1581912"/>
            <a:ext cx="21488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313C"/>
                </a:solidFill>
                <a:latin typeface="Aptos"/>
              </a:rPr>
              <a:t>POLICY DOCUMENTS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9176" y="1938528"/>
            <a:ext cx="21488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37D"/>
                </a:solidFill>
                <a:latin typeface="Aptos"/>
              </a:rPr>
              <a:t>approved version / dates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37D"/>
                </a:solidFill>
                <a:latin typeface="Aptos"/>
              </a:rPr>
              <a:t>approved_by_user_id FK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3017520"/>
            <a:ext cx="2423160" cy="1051560"/>
          </a:xfrm>
          <a:prstGeom prst="roundRect">
            <a:avLst>
              <a:gd name="adj" fmla="val 8000"/>
            </a:avLst>
          </a:prstGeom>
          <a:solidFill>
            <a:srgbClr val="E4F4EF"/>
          </a:solidFill>
          <a:ln w="12700">
            <a:solidFill>
              <a:srgbClr val="C7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35440" y="3017520"/>
            <a:ext cx="73152" cy="1051560"/>
          </a:xfrm>
          <a:prstGeom prst="rect">
            <a:avLst/>
          </a:prstGeom>
          <a:solidFill>
            <a:srgbClr val="08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09176" y="3090672"/>
            <a:ext cx="21488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313C"/>
                </a:solidFill>
                <a:latin typeface="Aptos"/>
              </a:rPr>
              <a:t>POLICY CHUNKS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9176" y="3447287"/>
            <a:ext cx="2148840" cy="5943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37D"/>
                </a:solidFill>
                <a:latin typeface="Aptos"/>
              </a:rPr>
              <a:t>document_id FK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737D"/>
                </a:solidFill>
                <a:latin typeface="Aptos"/>
              </a:rPr>
              <a:t>searchable text + keywords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4297680"/>
            <a:ext cx="2423160" cy="1051560"/>
          </a:xfrm>
          <a:prstGeom prst="roundRect">
            <a:avLst>
              <a:gd name="adj" fmla="val 8000"/>
            </a:avLst>
          </a:prstGeom>
          <a:solidFill>
            <a:srgbClr val="EDF5EC"/>
          </a:solidFill>
          <a:ln w="12700">
            <a:solidFill>
              <a:srgbClr val="C7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46520" y="4297680"/>
            <a:ext cx="73152" cy="1051560"/>
          </a:xfrm>
          <a:prstGeom prst="rect">
            <a:avLst/>
          </a:prstGeom>
          <a:solidFill>
            <a:srgbClr val="548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0256" y="4370832"/>
            <a:ext cx="21488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7313C"/>
                </a:solidFill>
                <a:latin typeface="Aptos"/>
              </a:rPr>
              <a:t>APPROVAL EVENTS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0256" y="4727448"/>
            <a:ext cx="2148840" cy="59435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E737D"/>
                </a:solidFill>
                <a:latin typeface="Aptos"/>
              </a:rPr>
              <a:t>actor / comment / status transition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E737D"/>
                </a:solidFill>
                <a:latin typeface="Aptos"/>
              </a:rPr>
              <a:t>optional explanation_run_id FK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926080" y="2039112"/>
            <a:ext cx="411480" cy="566928"/>
          </a:xfrm>
          <a:prstGeom prst="line">
            <a:avLst/>
          </a:prstGeom>
          <a:ln w="17780">
            <a:solidFill>
              <a:srgbClr val="C474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ight Arrow 35"/>
          <p:cNvSpPr/>
          <p:nvPr/>
        </p:nvSpPr>
        <p:spPr>
          <a:xfrm>
            <a:off x="3172968" y="2359152"/>
            <a:ext cx="182880" cy="128016"/>
          </a:xfrm>
          <a:prstGeom prst="rightArrow">
            <a:avLst/>
          </a:prstGeom>
          <a:solidFill>
            <a:srgbClr val="C47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2926080" y="3291840"/>
            <a:ext cx="411480" cy="868680"/>
          </a:xfrm>
          <a:prstGeom prst="line">
            <a:avLst/>
          </a:prstGeom>
          <a:ln w="17780">
            <a:solidFill>
              <a:srgbClr val="BC59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ight Arrow 37"/>
          <p:cNvSpPr/>
          <p:nvPr/>
        </p:nvSpPr>
        <p:spPr>
          <a:xfrm>
            <a:off x="3172968" y="3401568"/>
            <a:ext cx="182880" cy="128016"/>
          </a:xfrm>
          <a:prstGeom prst="rightArrow">
            <a:avLst/>
          </a:prstGeom>
          <a:solidFill>
            <a:srgbClr val="BC5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 flipV="1">
            <a:off x="5760720" y="2103120"/>
            <a:ext cx="685800" cy="530352"/>
          </a:xfrm>
          <a:prstGeom prst="line">
            <a:avLst/>
          </a:prstGeom>
          <a:ln w="17780">
            <a:solidFill>
              <a:srgbClr val="715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ight Arrow 39"/>
          <p:cNvSpPr/>
          <p:nvPr/>
        </p:nvSpPr>
        <p:spPr>
          <a:xfrm>
            <a:off x="6236208" y="2240280"/>
            <a:ext cx="182880" cy="128016"/>
          </a:xfrm>
          <a:prstGeom prst="rightArrow">
            <a:avLst/>
          </a:prstGeom>
          <a:solidFill>
            <a:srgbClr val="715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7662672" y="2651760"/>
            <a:ext cx="0" cy="1645920"/>
          </a:xfrm>
          <a:prstGeom prst="line">
            <a:avLst/>
          </a:prstGeom>
          <a:ln w="17780">
            <a:solidFill>
              <a:srgbClr val="5480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ight Arrow 41"/>
          <p:cNvSpPr/>
          <p:nvPr/>
        </p:nvSpPr>
        <p:spPr>
          <a:xfrm>
            <a:off x="7598664" y="4096512"/>
            <a:ext cx="182880" cy="128016"/>
          </a:xfrm>
          <a:prstGeom prst="rightArrow">
            <a:avLst/>
          </a:prstGeom>
          <a:solidFill>
            <a:srgbClr val="548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H="1">
            <a:off x="8869680" y="2084831"/>
            <a:ext cx="365760" cy="0"/>
          </a:xfrm>
          <a:prstGeom prst="line">
            <a:avLst/>
          </a:prstGeom>
          <a:ln w="17780">
            <a:solidFill>
              <a:srgbClr val="087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442448" y="2651760"/>
            <a:ext cx="0" cy="365760"/>
          </a:xfrm>
          <a:prstGeom prst="line">
            <a:avLst/>
          </a:prstGeom>
          <a:ln w="17780">
            <a:solidFill>
              <a:srgbClr val="087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ight Arrow 44"/>
          <p:cNvSpPr/>
          <p:nvPr/>
        </p:nvSpPr>
        <p:spPr>
          <a:xfrm>
            <a:off x="10378440" y="2852928"/>
            <a:ext cx="182880" cy="128016"/>
          </a:xfrm>
          <a:prstGeom prst="rightArrow">
            <a:avLst/>
          </a:prstGeom>
          <a:solidFill>
            <a:srgbClr val="08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40" y="2706624"/>
            <a:ext cx="1371600" cy="1737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87E78"/>
                </a:solidFill>
                <a:latin typeface="Aptos"/>
              </a:rPr>
              <a:t>retrieved context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5623560"/>
            <a:ext cx="11201400" cy="658368"/>
          </a:xfrm>
          <a:prstGeom prst="roundRect">
            <a:avLst/>
          </a:prstGeom>
          <a:solidFill>
            <a:srgbClr val="183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2" y="569671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CASE FLOW: OPEN / INVESTIGATING -&gt; PENDING_APPROVAL -&gt; APPROVED or REJECTED; REQUEST_CHANGES returns to INVESTIGATING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6072" y="6345936"/>
            <a:ext cx="10972800" cy="1554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E737D"/>
                </a:solidFill>
                <a:latin typeface="Aptos"/>
              </a:rPr>
              <a:t>Audit runs and approval events are append-only. Evidence source_table/source_record_id is a polymorphic reference, not an enforced FK.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FinSight AI - Database Design</dc:title>
  <dc:subject>Database schemas, relationships, and workflow</dc:subject>
  <dc:creator>FinSight 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